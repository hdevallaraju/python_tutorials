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5F7FA"/>
                </a:solidFill>
                <a:latin typeface="Calibri"/>
              </a:rPr>
              <a:t>Vacation Rentals — Sales &amp; Technology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880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BB8C9"/>
                </a:solidFill>
                <a:latin typeface="Calibri"/>
              </a:rPr>
              <a:t>Board-ready overview: channel mix, partnerships, and the enabling tech stack
28 Dec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05840" cy="9144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4754880"/>
            <a:ext cx="2468880" cy="1463040"/>
          </a:xfrm>
          <a:prstGeom prst="roundRect">
            <a:avLst/>
          </a:prstGeom>
          <a:solidFill>
            <a:srgbClr val="10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83480"/>
            <a:ext cx="2057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Calibri"/>
              </a:rPr>
              <a:t>Sales
+
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5F7FA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3291840" cy="54864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BB8C9"/>
                </a:solidFill>
                <a:latin typeface="Calibri"/>
              </a:rPr>
              <a:t>What this strategy delivers for growth and operational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05200" cy="105156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84832"/>
            <a:ext cx="304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C997"/>
                </a:solidFill>
                <a:latin typeface="Calibri"/>
              </a:rPr>
              <a:t>More qualified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304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BB8C9"/>
                </a:solidFill>
                <a:latin typeface="Calibri"/>
              </a:rPr>
              <a:t>Demand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3880" y="1920240"/>
            <a:ext cx="3505200" cy="105156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2480" y="2084832"/>
            <a:ext cx="304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C997"/>
                </a:solidFill>
                <a:latin typeface="Calibri"/>
              </a:rPr>
              <a:t>Higher direct share + RevPAR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480" y="2560320"/>
            <a:ext cx="304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BB8C9"/>
                </a:solidFill>
                <a:latin typeface="Calibri"/>
              </a:rPr>
              <a:t>Conversion &amp;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1920240"/>
            <a:ext cx="3505200" cy="105156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6280" y="2084832"/>
            <a:ext cx="304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C997"/>
                </a:solidFill>
                <a:latin typeface="Calibri"/>
              </a:rPr>
              <a:t>Faster ops + better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6280" y="2560320"/>
            <a:ext cx="304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BB8C9"/>
                </a:solidFill>
                <a:latin typeface="Calibri"/>
              </a:rPr>
              <a:t>Operational excellence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00400"/>
            <a:ext cx="10972800" cy="2926080"/>
          </a:xfrm>
          <a:prstGeom prst="roundRect">
            <a:avLst/>
          </a:prstGeom>
          <a:solidFill>
            <a:srgbClr val="10264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Strategy pillars (simple &amp; board-level)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F5F7FA"/>
                </a:solidFill>
                <a:latin typeface="Calibri"/>
              </a:defRPr>
              <a:buChar char="•"/>
            </a:pPr>
            <a:r>
              <a:t>Multi-channel sales engine: OTAs + partnerships + direct booking (balanced for volume and margins).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F5F7FA"/>
                </a:solidFill>
                <a:latin typeface="Calibri"/>
              </a:defRPr>
              <a:buChar char="•"/>
            </a:pPr>
            <a:r>
              <a:t>A single source of truth: PMS + Channel Manager + Booking Engine + Admin/Analytics for real-time decisions.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F5F7FA"/>
                </a:solidFill>
                <a:latin typeface="Calibri"/>
              </a:defRPr>
              <a:buChar char="•"/>
            </a:pPr>
            <a:r>
              <a:t>AI-enabled growth: faster creative, smarter targeting, and lead identification — with human review and brand guardrails.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F5F7FA"/>
                </a:solidFill>
                <a:latin typeface="Calibri"/>
              </a:defRPr>
              <a:buChar char="•"/>
            </a:pPr>
            <a:r>
              <a:t>Revenue management: dynamic pricing to keep “price-for-value” competitive while protecting profitability.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1A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8C9"/>
                </a:solidFill>
                <a:latin typeface="Calibri"/>
              </a:rPr>
              <a:t>Vacation Rentals — Sales &amp; Technology Strategy (Draft)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BB8C9"/>
                </a:solidFill>
                <a:latin typeface="Calibri"/>
              </a:rPr>
              <a:t>28 Dec 2025   |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5F7FA"/>
                </a:solidFill>
                <a:latin typeface="Calibri"/>
              </a:rPr>
              <a:t>Sales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3291840" cy="54864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BB8C9"/>
                </a:solidFill>
                <a:latin typeface="Calibri"/>
              </a:rPr>
              <a:t>A channel mix designed for scale, margins, and repeatability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05200" cy="1417320"/>
          </a:xfrm>
          <a:prstGeom prst="roundRect">
            <a:avLst/>
          </a:prstGeom>
          <a:solidFill>
            <a:srgbClr val="10264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304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Acquire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04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BB8C9"/>
                </a:solidFill>
                <a:latin typeface="Calibri"/>
              </a:rPr>
              <a:t>Reach new high-intent travelers
and corporate groups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3880" y="1920240"/>
            <a:ext cx="3505200" cy="1417320"/>
          </a:xfrm>
          <a:prstGeom prst="roundRect">
            <a:avLst/>
          </a:prstGeom>
          <a:solidFill>
            <a:srgbClr val="10264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2480" y="2103120"/>
            <a:ext cx="304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Convert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480" y="2514600"/>
            <a:ext cx="304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BB8C9"/>
                </a:solidFill>
                <a:latin typeface="Calibri"/>
              </a:rPr>
              <a:t>Reduce friction in booking
and improve trust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1920240"/>
            <a:ext cx="3505200" cy="1417320"/>
          </a:xfrm>
          <a:prstGeom prst="roundRect">
            <a:avLst/>
          </a:prstGeom>
          <a:solidFill>
            <a:srgbClr val="10264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6280" y="2103120"/>
            <a:ext cx="304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Optimize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6280" y="2514600"/>
            <a:ext cx="304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BB8C9"/>
                </a:solidFill>
                <a:latin typeface="Calibri"/>
              </a:rPr>
              <a:t>Use analytics + pricing to
improve unit economics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10972800" cy="256032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Guiding principles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515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F5F7FA"/>
                </a:solidFill>
                <a:latin typeface="Calibri"/>
              </a:defRPr>
              <a:buChar char="•"/>
            </a:pPr>
            <a:r>
              <a:t>Protect brand: consistent premium positioning across OTAs, partners, and direct channels.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F5F7FA"/>
                </a:solidFill>
                <a:latin typeface="Calibri"/>
              </a:defRPr>
              <a:buChar char="•"/>
            </a:pPr>
            <a:r>
              <a:t>Balance volume vs. margin: use OTAs for demand, prioritize direct + repeat where possible.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F5F7FA"/>
                </a:solidFill>
                <a:latin typeface="Calibri"/>
              </a:defRPr>
              <a:buChar char="•"/>
            </a:pPr>
            <a:r>
              <a:t>Track attribution: understand what drives bookings (channel, campaign, partner, lead source).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F5F7FA"/>
                </a:solidFill>
                <a:latin typeface="Calibri"/>
              </a:defRPr>
              <a:buChar char="•"/>
            </a:pPr>
            <a:r>
              <a:t>Standardize partner operations: clear rate cards, commission rules, and service SLAs.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1A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8C9"/>
                </a:solidFill>
                <a:latin typeface="Calibri"/>
              </a:rPr>
              <a:t>Vacation Rentals — Sales &amp; Technology Strategy (Draft)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BB8C9"/>
                </a:solidFill>
                <a:latin typeface="Calibri"/>
              </a:rPr>
              <a:t>28 Dec 2025   |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5F7FA"/>
                </a:solidFill>
                <a:latin typeface="Calibri"/>
              </a:rPr>
              <a:t>Main Sales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3291840" cy="54864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BB8C9"/>
                </a:solidFill>
                <a:latin typeface="Calibri"/>
              </a:rPr>
              <a:t>Purpose-driven channels with clear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49240" cy="1417320"/>
          </a:xfrm>
          <a:prstGeom prst="roundRect">
            <a:avLst/>
          </a:prstGeom>
          <a:solidFill>
            <a:srgbClr val="10264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391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OTAs (Premium + Scale)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39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BB8C9"/>
                </a:solidFill>
                <a:latin typeface="Calibri"/>
              </a:rPr>
              <a:t>Purpose: Fill demand reliably.
Description: List curated inventory on premium OTAs (e.g., MMT Luxe Selection, Airbnb Luxe, goIbibo, Booking.com) to capture high-intent travelers.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74519"/>
            <a:ext cx="5349240" cy="141732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391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Collaborations (Partners)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39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BB8C9"/>
                </a:solidFill>
                <a:latin typeface="Calibri"/>
              </a:rPr>
              <a:t>Purpose: Access qualified networks.
Description: Work with travel agents, luxury rental agencies, brands, and MICE firms to unlock group and repeat bookings.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39"/>
            <a:ext cx="5349240" cy="1417320"/>
          </a:xfrm>
          <a:prstGeom prst="roundRect">
            <a:avLst/>
          </a:prstGeom>
          <a:solidFill>
            <a:srgbClr val="10264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85031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Direct Booking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23359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BB8C9"/>
                </a:solidFill>
                <a:latin typeface="Calibri"/>
              </a:rPr>
              <a:t>Purpose: Improve margins + loyalty.
Description: A branded website/portal with a fast booking flow, trust signals, and support to increase direct share over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20439"/>
            <a:ext cx="5349240" cy="141732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685031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Paid Social Campaigns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23359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BB8C9"/>
                </a:solidFill>
                <a:latin typeface="Calibri"/>
              </a:rPr>
              <a:t>Purpose: Generate demand quickly.
Description: Always-on + seasonal campaigns (Instagram/YouTube/Facebook) optimized for qualified leads and bookings.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66360"/>
            <a:ext cx="10972800" cy="1417320"/>
          </a:xfrm>
          <a:prstGeom prst="roundRect">
            <a:avLst/>
          </a:prstGeom>
          <a:solidFill>
            <a:srgbClr val="10264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3309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AI Lead Identification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61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BB8C9"/>
                </a:solidFill>
                <a:latin typeface="Calibri"/>
              </a:rPr>
              <a:t>Purpose: Build a scalable outbound engine.
Description: Use AI to find &amp; prioritize leads on LinkedIn/Instagram (profiles, interests, signals), then follow a human-led outreach playbook.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1A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8C9"/>
                </a:solidFill>
                <a:latin typeface="Calibri"/>
              </a:rPr>
              <a:t>Vacation Rentals — Sales &amp; Technology Strategy (Draft)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922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BB8C9"/>
                </a:solidFill>
                <a:latin typeface="Calibri"/>
              </a:rPr>
              <a:t>28 Dec 2025   |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5F7FA"/>
                </a:solidFill>
                <a:latin typeface="Calibri"/>
              </a:rPr>
              <a:t>Collaboration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3291840" cy="54864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BB8C9"/>
                </a:solidFill>
                <a:latin typeface="Calibri"/>
              </a:rPr>
              <a:t>Partnerships designed to add volume, segments, and repeat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05200" cy="4206240"/>
          </a:xfrm>
          <a:prstGeom prst="roundRect">
            <a:avLst/>
          </a:prstGeom>
          <a:solidFill>
            <a:srgbClr val="10264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304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Travel Agents &amp; Luxury Rental Agencies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30480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Purpose: Access premium clientele and ready-to-buy demand.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Targets: Elite Homes; Homes &amp; Villas by Marriott (and similar).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Operating model: curated inventory + clear commission + service SLAs.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3880" y="1920240"/>
            <a:ext cx="3505200" cy="420624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2480" y="2121408"/>
            <a:ext cx="304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Vacation Rental Brands (Partial Partnerships)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2480" y="2651760"/>
            <a:ext cx="30480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Purpose: Expand distribution without full acquisition cost.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Targets: Lohono; Amã Stays &amp; Trails; StayVista.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Model: commission-based, partial partnership on select inventory/periods.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1920240"/>
            <a:ext cx="3505200" cy="4206240"/>
          </a:xfrm>
          <a:prstGeom prst="roundRect">
            <a:avLst/>
          </a:prstGeom>
          <a:solidFill>
            <a:srgbClr val="10264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6280" y="2121408"/>
            <a:ext cx="304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MICE Companies (Groups &amp; Corporate)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6280" y="2651760"/>
            <a:ext cx="30480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Purpose: Unlock high-value group bookings and offsites.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Targets: SOS Party Offsite; Wizard Events; Thomas Cook; MICEKart.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Model: packaged experiences + pre-negotiated rates + event coordination playbook.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BB8C9"/>
                </a:solidFill>
                <a:latin typeface="Calibri"/>
              </a:rPr>
              <a:t>Governance: rate parity rules, partner SLAs, lead attribution, and monthly performance reviews.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1A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8C9"/>
                </a:solidFill>
                <a:latin typeface="Calibri"/>
              </a:rPr>
              <a:t>Vacation Rentals — Sales &amp; Technology Strategy (Draft)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922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BB8C9"/>
                </a:solidFill>
                <a:latin typeface="Calibri"/>
              </a:rPr>
              <a:t>28 Dec 2025   |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5F7FA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3291840" cy="54864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BB8C9"/>
                </a:solidFill>
                <a:latin typeface="Calibri"/>
              </a:rPr>
              <a:t>Systems that enable scale, accuracy, and measurable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0972800" cy="4297680"/>
          </a:xfrm>
          <a:prstGeom prst="roundRect">
            <a:avLst/>
          </a:prstGeom>
          <a:solidFill>
            <a:srgbClr val="10264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Target architecture (high-level)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2880360" cy="109728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Booking / Reservation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2514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BB8C9"/>
                </a:solidFill>
                <a:latin typeface="Calibri"/>
              </a:rPr>
              <a:t>Purpose: drive direct bookings.</a:t>
            </a:r>
          </a:p>
          <a:p>
            <a:r>
              <a:rPr sz="1100">
                <a:solidFill>
                  <a:srgbClr val="ABB8C9"/>
                </a:solidFill>
                <a:latin typeface="Calibri"/>
              </a:rPr>
              <a:t>Description: fast search, availability, payments,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697480"/>
            <a:ext cx="2331720" cy="109728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278892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Booking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090672"/>
            <a:ext cx="1965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BB8C9"/>
                </a:solidFill>
                <a:latin typeface="Calibri"/>
              </a:rPr>
              <a:t>Purpose: convert reliably.</a:t>
            </a:r>
          </a:p>
          <a:p>
            <a:r>
              <a:rPr sz="1100">
                <a:solidFill>
                  <a:srgbClr val="ABB8C9"/>
                </a:solidFill>
                <a:latin typeface="Calibri"/>
              </a:rPr>
              <a:t>Description: pricing, policies, payments, confirmations.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697480"/>
            <a:ext cx="2514600" cy="109728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78892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PMS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090672"/>
            <a:ext cx="2148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BB8C9"/>
                </a:solidFill>
                <a:latin typeface="Calibri"/>
              </a:rPr>
              <a:t>Purpose: single source of truth.</a:t>
            </a:r>
          </a:p>
          <a:p>
            <a:r>
              <a:rPr sz="1100">
                <a:solidFill>
                  <a:srgbClr val="ABB8C9"/>
                </a:solidFill>
                <a:latin typeface="Calibri"/>
              </a:rPr>
              <a:t>Description: inventory, reservations, housekeeping, owners.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697480"/>
            <a:ext cx="1600200" cy="109728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78892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Channel Mgr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090672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8C9"/>
                </a:solidFill>
                <a:latin typeface="Calibri"/>
              </a:rPr>
              <a:t>Purpose: distribute &amp; sync.</a:t>
            </a:r>
          </a:p>
          <a:p>
            <a:r>
              <a:rPr sz="1000">
                <a:solidFill>
                  <a:srgbClr val="ABB8C9"/>
                </a:solidFill>
                <a:latin typeface="Calibri"/>
              </a:rPr>
              <a:t>Description: OTA/partner rate &amp; availability sync.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069080"/>
            <a:ext cx="5532120" cy="114300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1605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Administration &amp; Analytics 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62272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BB8C9"/>
                </a:solidFill>
                <a:latin typeface="Calibri"/>
              </a:rPr>
              <a:t>Purpose: visibility + control.</a:t>
            </a:r>
          </a:p>
          <a:p>
            <a:r>
              <a:rPr sz="1100">
                <a:solidFill>
                  <a:srgbClr val="ABB8C9"/>
                </a:solidFill>
                <a:latin typeface="Calibri"/>
              </a:rPr>
              <a:t>Description: booking funnel, channel ROI, ops KPIs, owner reporting.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069080"/>
            <a:ext cx="3977639" cy="114300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416052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Accounting Integration (Tally)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462272"/>
            <a:ext cx="3611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BB8C9"/>
                </a:solidFill>
                <a:latin typeface="Calibri"/>
              </a:rPr>
              <a:t>Purpose: accuracy + compliance.</a:t>
            </a:r>
          </a:p>
          <a:p>
            <a:r>
              <a:rPr sz="1100">
                <a:solidFill>
                  <a:srgbClr val="ABB8C9"/>
                </a:solidFill>
                <a:latin typeface="Calibri"/>
              </a:rPr>
              <a:t>Description: automated postings, reconciliations, owner payouts.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BB8C9"/>
                </a:solidFill>
                <a:latin typeface="Calibri"/>
              </a:rPr>
              <a:t>Key requirement: clean integrations + consistent IDs (property, rate plan, channel) to avoid operational leakage.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1A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8C9"/>
                </a:solidFill>
                <a:latin typeface="Calibri"/>
              </a:rPr>
              <a:t>Vacation Rentals — Sales &amp; Technology Strategy (Draft)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922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BB8C9"/>
                </a:solidFill>
                <a:latin typeface="Calibri"/>
              </a:rPr>
              <a:t>28 Dec 2025   |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5F7FA"/>
                </a:solidFill>
                <a:latin typeface="Calibri"/>
              </a:rPr>
              <a:t>Dynamic Pricing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3291840" cy="54864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BB8C9"/>
                </a:solidFill>
                <a:latin typeface="Calibri"/>
              </a:rPr>
              <a:t>Balance ‘price-for-value’ while maximizing revenue per available night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72800" cy="1828800"/>
          </a:xfrm>
          <a:prstGeom prst="roundRect">
            <a:avLst/>
          </a:prstGeom>
          <a:solidFill>
            <a:srgbClr val="10264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ABB8C9"/>
                </a:solidFill>
                <a:latin typeface="Calibri"/>
              </a:defRPr>
              <a:buChar char="•"/>
            </a:pPr>
            <a:r>
              <a:t>Improve RevPAR by pricing each property for demand, seasonality, events, and competitor benchmarks.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ABB8C9"/>
                </a:solidFill>
                <a:latin typeface="Calibri"/>
              </a:defRPr>
              <a:buChar char="•"/>
            </a:pPr>
            <a:r>
              <a:t>Reduce manual overrides by using rule-based guardrails and exception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86200"/>
            <a:ext cx="10972800" cy="228600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How it works (simple)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70832"/>
            <a:ext cx="105156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300">
                <a:solidFill>
                  <a:srgbClr val="F5F7FA"/>
                </a:solidFill>
                <a:latin typeface="Calibri"/>
              </a:defRPr>
              <a:buChar char="•"/>
            </a:pPr>
            <a:r>
              <a:t>Inputs: occupancy pace, booking lead time, local events, competitor price ranges, property quality signals.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300">
                <a:solidFill>
                  <a:srgbClr val="F5F7FA"/>
                </a:solidFill>
                <a:latin typeface="Calibri"/>
              </a:defRPr>
              <a:buChar char="•"/>
            </a:pPr>
            <a:r>
              <a:t>Outputs: recommended price bands + automated updates via PMS/Channel Manager.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300">
                <a:solidFill>
                  <a:srgbClr val="F5F7FA"/>
                </a:solidFill>
                <a:latin typeface="Calibri"/>
              </a:defRPr>
              <a:buChar char="•"/>
            </a:pPr>
            <a:r>
              <a:t>Controls: min/max price, brand positioning tiers, blackout rules, and human approvals for high-impact changes.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1A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8C9"/>
                </a:solidFill>
                <a:latin typeface="Calibri"/>
              </a:rPr>
              <a:t>Vacation Rentals — Sales &amp; Technology Strategy (Draft)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922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BB8C9"/>
                </a:solidFill>
                <a:latin typeface="Calibri"/>
              </a:rPr>
              <a:t>28 Dec 2025   |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5F7FA"/>
                </a:solidFill>
                <a:latin typeface="Calibri"/>
              </a:rPr>
              <a:t>AI Enablement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3291840" cy="54864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BB8C9"/>
                </a:solidFill>
                <a:latin typeface="Calibri"/>
              </a:rPr>
              <a:t>Speed + consistency, with human-in-the-loop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72800" cy="4206240"/>
          </a:xfrm>
          <a:prstGeom prst="roundRect">
            <a:avLst/>
          </a:prstGeom>
          <a:solidFill>
            <a:srgbClr val="10264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Capabilities mapped to business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5097780" cy="173736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46405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AI Content Generation (Ads &amp; Campaigns)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08960"/>
            <a:ext cx="46405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Purpose: faster creative production.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Description: generate copy + variants + hooks tailored to persona, property, season, and channel.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Control: brand tone prompts + approval before publishing.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5097780" cy="173736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572000"/>
            <a:ext cx="46405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AI Workflows (Human-in-loop Posting)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983480"/>
            <a:ext cx="46405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Purpose: consistent posting cadence.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Description: schedule, generate captions, propose hashtags, and adapt formats for each platform.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Control: reviewer checklist + escalation for sensitive content.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80" y="2514600"/>
            <a:ext cx="5097780" cy="173736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9380" y="2697480"/>
            <a:ext cx="46405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AI Lead Identification (LinkedIn/Instagram)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9380" y="3108960"/>
            <a:ext cx="46405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Purpose: scalable prospecting.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Description: find leads using signals (role, location, interests, intent) and prioritize outreach lists.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Control: outreach scripts + compliance checks.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0780" y="4389120"/>
            <a:ext cx="5097780" cy="173736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4572000"/>
            <a:ext cx="46405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Measurement &amp;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4983480"/>
            <a:ext cx="46405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Purpose: improve ROI.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Description: link campaigns/leads to bookings, then iterate creative, targeting, and pricing.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Control: dashboards + monthly review cadence.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1A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8C9"/>
                </a:solidFill>
                <a:latin typeface="Calibri"/>
              </a:rPr>
              <a:t>Vacation Rentals — Sales &amp; Technology Strategy (Draft)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922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BB8C9"/>
                </a:solidFill>
                <a:latin typeface="Calibri"/>
              </a:rPr>
              <a:t>28 Dec 2025   |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5F7FA"/>
                </a:solidFill>
                <a:latin typeface="Calibri"/>
              </a:rPr>
              <a:t>90-Day Rollout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3291840" cy="54864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BB8C9"/>
                </a:solidFill>
                <a:latin typeface="Calibri"/>
              </a:rPr>
              <a:t>Deliver quick wins while building the scalable foundation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72800" cy="3840480"/>
          </a:xfrm>
          <a:prstGeom prst="roundRect">
            <a:avLst/>
          </a:prstGeom>
          <a:solidFill>
            <a:srgbClr val="10264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Phased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3322320" cy="292608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286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C997"/>
                </a:solidFill>
                <a:latin typeface="Calibri"/>
              </a:rPr>
              <a:t>Weeks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81528"/>
            <a:ext cx="286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38728"/>
            <a:ext cx="2865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Finalize channel strategy &amp; partner targets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Select PMS/Channel Manager/Booking Engine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Define rate plans + brand guardrails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5320" y="2606040"/>
            <a:ext cx="3322320" cy="292608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3920" y="2788920"/>
            <a:ext cx="286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C997"/>
                </a:solidFill>
                <a:latin typeface="Calibri"/>
              </a:rPr>
              <a:t>Weeks 4–7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3920" y="3081528"/>
            <a:ext cx="286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Build &amp; Integrate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3920" y="3538728"/>
            <a:ext cx="2865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Implement PMS + Channel Manager + booking flow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Set up analytics portal + attribution tracking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Tally integration plan &amp; mapping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239" y="2606040"/>
            <a:ext cx="3322320" cy="292608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39" y="2788920"/>
            <a:ext cx="286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0C997"/>
                </a:solidFill>
                <a:latin typeface="Calibri"/>
              </a:rPr>
              <a:t>Weeks 8–13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39" y="3081528"/>
            <a:ext cx="286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Launch &amp; Optimize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39" y="3538728"/>
            <a:ext cx="2865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Launch campaigns + partner onboarding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Dynamic pricing rules + review process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200">
                <a:solidFill>
                  <a:srgbClr val="ABB8C9"/>
                </a:solidFill>
                <a:latin typeface="Calibri"/>
              </a:defRPr>
              <a:buChar char="•"/>
            </a:pPr>
            <a:r>
              <a:t>AI workflows + content/lead operations cadence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97880"/>
            <a:ext cx="10972800" cy="731520"/>
          </a:xfrm>
          <a:prstGeom prst="roundRect">
            <a:avLst/>
          </a:prstGeom>
          <a:solidFill>
            <a:srgbClr val="132E5A"/>
          </a:solidFill>
          <a:ln w="12700">
            <a:solidFill>
              <a:srgbClr val="274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98932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  <a:latin typeface="Calibri"/>
              </a:rPr>
              <a:t>Board decisions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636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100">
                <a:solidFill>
                  <a:srgbClr val="F5F7FA"/>
                </a:solidFill>
                <a:latin typeface="Calibri"/>
              </a:defRPr>
              <a:buChar char="•"/>
            </a:pPr>
            <a:r>
              <a:t>Approve target channel mix and partnership priorities.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100">
                <a:solidFill>
                  <a:srgbClr val="F5F7FA"/>
                </a:solidFill>
                <a:latin typeface="Calibri"/>
              </a:defRPr>
              <a:buChar char="•"/>
            </a:pPr>
            <a:r>
              <a:t>Approve tech stack procurement (PMS, Channel Manager, Booking Engine, Analytics) and integration budget.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100">
                <a:solidFill>
                  <a:srgbClr val="F5F7FA"/>
                </a:solidFill>
                <a:latin typeface="Calibri"/>
              </a:defRPr>
              <a:buChar char="•"/>
            </a:pPr>
            <a:r>
              <a:t>Approve AI governance (human review, brand policies, data privacy).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1A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BB8C9"/>
                </a:solidFill>
                <a:latin typeface="Calibri"/>
              </a:rPr>
              <a:t>Vacation Rentals — Sales &amp; Technology Strategy (Draft)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4922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BB8C9"/>
                </a:solidFill>
                <a:latin typeface="Calibri"/>
              </a:rPr>
              <a:t>28 Dec 2025   |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